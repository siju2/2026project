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24384000" cy="13716000"/>
  <p:notesSz cx="6858000" cy="9144000"/>
  <p:embeddedFontLst>
    <p:embeddedFont>
      <p:font typeface="Pretendard Regular"/>
      <p:regular r:id="rId32"/>
    </p:embeddedFont>
    <p:embeddedFont>
      <p:font typeface="Pretendard Light"/>
      <p:regular r:id="rId33"/>
    </p:embeddedFont>
    <p:embeddedFont>
      <p:font typeface="Gong Gothic Bold"/>
      <p:bold r:id="rId34"/>
    </p:embeddedFont>
    <p:embeddedFont>
      <p:font typeface="Pretendard Medium"/>
      <p:bold r:id="rId35"/>
    </p:embeddedFont>
    <p:embeddedFont>
      <p:font typeface="Gong Gothic Medium"/>
      <p:bold r:id="rId36"/>
    </p:embeddedFont>
    <p:embeddedFont>
      <p:font typeface="Pretendard SemiBold"/>
      <p:bold r:id="rId37"/>
    </p:embeddedFont>
    <p:embeddedFont>
      <p:font typeface="Pretendard Bold"/>
      <p:bold r:id="rId38"/>
    </p:embeddedFont>
    <p:embeddedFont>
      <p:font typeface="Pretendard Black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1.fntdata" Type="http://schemas.openxmlformats.org/officeDocument/2006/relationships/font"/><Relationship Id="rId33" Target="fonts/font2.fntdata" Type="http://schemas.openxmlformats.org/officeDocument/2006/relationships/font"/><Relationship Id="rId34" Target="fonts/font3.fntdata" Type="http://schemas.openxmlformats.org/officeDocument/2006/relationships/font"/><Relationship Id="rId35" Target="fonts/font4.fntdata" Type="http://schemas.openxmlformats.org/officeDocument/2006/relationships/font"/><Relationship Id="rId36" Target="fonts/font5.fntdata" Type="http://schemas.openxmlformats.org/officeDocument/2006/relationships/font"/><Relationship Id="rId37" Target="fonts/font6.fntdata" Type="http://schemas.openxmlformats.org/officeDocument/2006/relationships/font"/><Relationship Id="rId38" Target="fonts/font7.fntdata" Type="http://schemas.openxmlformats.org/officeDocument/2006/relationships/font"/><Relationship Id="rId39" Target="fonts/font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13" Target="../media/image38.png" Type="http://schemas.openxmlformats.org/officeDocument/2006/relationships/image"/><Relationship Id="rId14" Target="../media/image39.png" Type="http://schemas.openxmlformats.org/officeDocument/2006/relationships/image"/><Relationship Id="rId15" Target="../media/image40.png" Type="http://schemas.openxmlformats.org/officeDocument/2006/relationships/image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68768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47700" y="622300"/>
            <a:ext cx="23088600" cy="1245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889000"/>
            <a:ext cx="243840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5400" y="12827000"/>
            <a:ext cx="24384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5969000" y="6858000"/>
            <a:ext cx="137160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624300" y="6819900"/>
            <a:ext cx="137160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876800" y="2921000"/>
            <a:ext cx="15430500" cy="4406900"/>
          </a:xfrm>
          <a:prstGeom prst="rect">
            <a:avLst/>
          </a:prstGeom>
        </p:spPr>
        <p:txBody>
          <a:bodyPr anchor="t" rtlCol="false" lIns="0" tIns="169333" rIns="0" bIns="0"/>
          <a:lstStyle/>
          <a:p>
            <a:pPr algn="ctr" lvl="0">
              <a:lnSpc>
                <a:spcPct val="99600"/>
              </a:lnSpc>
            </a:pPr>
            <a:r>
              <a:rPr lang="en-US" sz="13333" b="false" i="false" u="none" strike="noStrike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청각 장애인을 돕는</a:t>
            </a:r>
          </a:p>
          <a:p>
            <a:pPr algn="ctr" lvl="0">
              <a:lnSpc>
                <a:spcPct val="99600"/>
              </a:lnSpc>
            </a:pPr>
            <a:r>
              <a:rPr lang="en-US" sz="13333" b="false" i="false" u="none" strike="noStrike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자막 / TTS 서비스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2197100" y="7366000"/>
            <a:ext cx="28790900" cy="1549400"/>
          </a:xfrm>
          <a:prstGeom prst="rect">
            <a:avLst/>
          </a:prstGeom>
        </p:spPr>
        <p:txBody>
          <a:bodyPr anchor="t" rtlCol="false" lIns="0" tIns="49107" rIns="0" bIns="0"/>
          <a:lstStyle/>
          <a:p>
            <a:pPr algn="ctr" lvl="0">
              <a:lnSpc>
                <a:spcPct val="99600"/>
              </a:lnSpc>
            </a:pPr>
            <a:r>
              <a:rPr lang="en-US" sz="8716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너의 귀가 되어줄께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007600" y="11899900"/>
            <a:ext cx="3810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5354300" y="11899900"/>
            <a:ext cx="381000" cy="12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58600" y="8966200"/>
            <a:ext cx="6299200" cy="7112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l" lvl="0">
              <a:lnSpc>
                <a:spcPct val="99600"/>
              </a:lnSpc>
            </a:pPr>
            <a:r>
              <a:rPr lang="en-US" sz="3981" b="false" i="false" u="none" strike="noStrike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이동현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68768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4267200"/>
            <a:ext cx="213360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76500" y="5283200"/>
            <a:ext cx="9398000" cy="1651000"/>
          </a:xfrm>
          <a:prstGeom prst="rect">
            <a:avLst/>
          </a:prstGeom>
          <a:effectLst>
            <a:outerShdw dir="2700000" dist="190500" blurRad="165100">
              <a:srgbClr val="000000">
                <a:alpha val="8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5295900" y="2032000"/>
            <a:ext cx="137414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ctr" lvl="0">
              <a:lnSpc>
                <a:spcPct val="99600"/>
              </a:lnSpc>
            </a:pPr>
            <a:r>
              <a:rPr lang="en-US" sz="10666" b="false" i="false" u="none" strike="noStrike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목차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19600" y="5816600"/>
            <a:ext cx="59309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유스케이스 다이어그램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63900" y="5638800"/>
            <a:ext cx="10033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687689"/>
                </a:solidFill>
                <a:latin typeface="Gong Gothic Bold"/>
                <a:ea typeface="Gong Gothic Bold"/>
                <a:cs typeface="Gong Gothic Bold"/>
              </a:rPr>
              <a:t>1.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76500" y="7581900"/>
            <a:ext cx="9398000" cy="1651000"/>
          </a:xfrm>
          <a:prstGeom prst="rect">
            <a:avLst/>
          </a:prstGeom>
          <a:effectLst>
            <a:outerShdw dir="2700000" dist="190500" blurRad="165100">
              <a:srgbClr val="000000">
                <a:alpha val="8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4419600" y="8115300"/>
            <a:ext cx="59309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end to 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63900" y="7924800"/>
            <a:ext cx="10033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687689"/>
                </a:solidFill>
                <a:latin typeface="Gong Gothic Bold"/>
                <a:ea typeface="Gong Gothic Bold"/>
                <a:cs typeface="Gong Gothic Bold"/>
              </a:rPr>
              <a:t>2.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76500" y="9880600"/>
            <a:ext cx="9398000" cy="1651000"/>
          </a:xfrm>
          <a:prstGeom prst="rect">
            <a:avLst/>
          </a:prstGeom>
          <a:effectLst>
            <a:outerShdw dir="2700000" dist="190500" blurRad="165100">
              <a:srgbClr val="000000">
                <a:alpha val="8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4419600" y="10414000"/>
            <a:ext cx="59309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 아키텍쳐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3900" y="10223500"/>
            <a:ext cx="10033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687689"/>
                </a:solidFill>
                <a:latin typeface="Gong Gothic Bold"/>
                <a:ea typeface="Gong Gothic Bold"/>
                <a:cs typeface="Gong Gothic Bold"/>
              </a:rPr>
              <a:t>3.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09500" y="5295900"/>
            <a:ext cx="9398000" cy="1651000"/>
          </a:xfrm>
          <a:prstGeom prst="rect">
            <a:avLst/>
          </a:prstGeom>
          <a:effectLst>
            <a:outerShdw dir="2700000" dist="190500" blurRad="165100">
              <a:srgbClr val="000000">
                <a:alpha val="8000"/>
              </a:srgbClr>
            </a:outerShdw>
          </a:effectLst>
        </p:spPr>
      </p:pic>
      <p:sp>
        <p:nvSpPr>
          <p:cNvPr name="TextBox 15" id="15"/>
          <p:cNvSpPr txBox="true"/>
          <p:nvPr/>
        </p:nvSpPr>
        <p:spPr>
          <a:xfrm rot="0">
            <a:off x="14528800" y="5829300"/>
            <a:ext cx="59309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메뉴구성도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96900" y="5638800"/>
            <a:ext cx="10033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687689"/>
                </a:solidFill>
                <a:latin typeface="Gong Gothic Bold"/>
                <a:ea typeface="Gong Gothic Bold"/>
                <a:cs typeface="Gong Gothic Bold"/>
              </a:rPr>
              <a:t>4.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09500" y="7581900"/>
            <a:ext cx="9398000" cy="1651000"/>
          </a:xfrm>
          <a:prstGeom prst="rect">
            <a:avLst/>
          </a:prstGeom>
          <a:effectLst>
            <a:outerShdw dir="2700000" dist="190500" blurRad="165100">
              <a:srgbClr val="000000">
                <a:alpha val="8000"/>
              </a:srgbClr>
            </a:outerShdw>
          </a:effectLst>
        </p:spPr>
      </p:pic>
      <p:sp>
        <p:nvSpPr>
          <p:cNvPr name="TextBox 18" id="18"/>
          <p:cNvSpPr txBox="true"/>
          <p:nvPr/>
        </p:nvSpPr>
        <p:spPr>
          <a:xfrm rot="0">
            <a:off x="14528800" y="8128000"/>
            <a:ext cx="59309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ERD 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96900" y="7937500"/>
            <a:ext cx="10033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687689"/>
                </a:solidFill>
                <a:latin typeface="Gong Gothic Bold"/>
                <a:ea typeface="Gong Gothic Bold"/>
                <a:cs typeface="Gong Gothic Bold"/>
              </a:rPr>
              <a:t>5.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09500" y="9880600"/>
            <a:ext cx="9398000" cy="1651000"/>
          </a:xfrm>
          <a:prstGeom prst="rect">
            <a:avLst/>
          </a:prstGeom>
          <a:effectLst>
            <a:outerShdw dir="2700000" dist="190500" blurRad="165100">
              <a:srgbClr val="000000">
                <a:alpha val="8000"/>
              </a:srgbClr>
            </a:outerShdw>
          </a:effectLst>
        </p:spPr>
      </p:pic>
      <p:sp>
        <p:nvSpPr>
          <p:cNvPr name="TextBox 21" id="21"/>
          <p:cNvSpPr txBox="true"/>
          <p:nvPr/>
        </p:nvSpPr>
        <p:spPr>
          <a:xfrm rot="0">
            <a:off x="14528800" y="10414000"/>
            <a:ext cx="59309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96900" y="10223500"/>
            <a:ext cx="10033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687689"/>
                </a:solidFill>
                <a:latin typeface="Gong Gothic Bold"/>
                <a:ea typeface="Gong Gothic Bold"/>
                <a:cs typeface="Gong Gothic Bold"/>
              </a:rPr>
              <a:t>6.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11300" y="1028700"/>
            <a:ext cx="7899400" cy="24638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유스케이스</a:t>
            </a:r>
          </a:p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다이어그램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1300" y="3492500"/>
            <a:ext cx="13182600" cy="622300"/>
          </a:xfrm>
          <a:prstGeom prst="rect">
            <a:avLst/>
          </a:prstGeom>
        </p:spPr>
        <p:txBody>
          <a:bodyPr anchor="t" rtlCol="false" lIns="0" tIns="44027" rIns="0" bIns="0"/>
          <a:lstStyle/>
          <a:p>
            <a:pPr algn="l" lvl="0">
              <a:lnSpc>
                <a:spcPct val="996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수어 인식 및 자막 tts 변환시스템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0" y="0"/>
            <a:ext cx="16764000" cy="15938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4000" y="977900"/>
            <a:ext cx="10960100" cy="13335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END TO END 시나리오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17900" y="11595100"/>
            <a:ext cx="508000" cy="508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05000" y="4152900"/>
            <a:ext cx="31750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4898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입력단계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75600" y="4152900"/>
            <a:ext cx="3721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898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2. 전처리 단계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93800" y="4152900"/>
            <a:ext cx="3670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898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3.AI 분석단계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532600" y="4152900"/>
            <a:ext cx="30607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898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출력단계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5791200"/>
            <a:ext cx="5486400" cy="3073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34200" y="5816600"/>
            <a:ext cx="5753100" cy="3035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627100" y="5422900"/>
            <a:ext cx="4013200" cy="4013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224500" y="5892800"/>
            <a:ext cx="5486400" cy="3073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87500" y="9601200"/>
            <a:ext cx="45212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 웹캠 접속 및
웹캠 권한 승인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72300" y="9715500"/>
            <a:ext cx="58420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영상 프레임 손가락 마디점 좌표를 실시간으로 추출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31800" y="9601200"/>
            <a:ext cx="5321300" cy="224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추출된 손가락 좌표를 ai 모델에 입력해 어떤 수어인지 분석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923000" y="9601200"/>
            <a:ext cx="51943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 화면에 자막,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목소리 TTS 로 출력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8600" y="1028700"/>
            <a:ext cx="11239500" cy="24638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시스템 아키텍처 (기술스택)</a:t>
            </a:r>
          </a:p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 - AI 모델 -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181600" y="4216400"/>
            <a:ext cx="5486400" cy="5486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702300" y="9931400"/>
            <a:ext cx="4699000" cy="251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손가락 인식:</a:t>
            </a:r>
          </a:p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Mediapipe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44300" y="9931400"/>
            <a:ext cx="8864600" cy="251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         AI 모델:</a:t>
            </a:r>
          </a:p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텐서플로우 / 카라스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230100" y="3492500"/>
            <a:ext cx="5486400" cy="349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03100" y="7188200"/>
            <a:ext cx="5486400" cy="165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8600" y="1028700"/>
            <a:ext cx="11239500" cy="24638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시스템 아키텍처 (기술스택)</a:t>
            </a:r>
          </a:p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 - 프론트 앤드 -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4191000"/>
            <a:ext cx="7302500" cy="408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924800" y="3987800"/>
            <a:ext cx="6832600" cy="4305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457700" y="8572500"/>
            <a:ext cx="8204200" cy="377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React JS / Steamlit</a:t>
            </a:r>
          </a:p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영상을 렌더링하고</a:t>
            </a:r>
          </a:p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자막,UI 등을 구현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43200" y="4902200"/>
            <a:ext cx="7620000" cy="2895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5062200" y="8801100"/>
            <a:ext cx="8661400" cy="251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    Webcams API</a:t>
            </a:r>
          </a:p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실시간 영상 데이터 캡쳐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8600" y="1028700"/>
            <a:ext cx="11239500" cy="24638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시스템 아키텍처 (기술스택)</a:t>
            </a:r>
          </a:p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 - 백앤드 -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72700" y="4978400"/>
            <a:ext cx="10439400" cy="3771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41900" y="3962400"/>
            <a:ext cx="5486400" cy="5486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077200" y="10020300"/>
            <a:ext cx="9601200" cy="251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파이썬과 FastAPI 를 활용</a:t>
            </a:r>
          </a:p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            데이터 처리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8600" y="1028700"/>
            <a:ext cx="11239500" cy="24638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시스템 아키텍처</a:t>
            </a:r>
          </a:p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 - 실시간 데이터 통신 -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652000" y="3492500"/>
            <a:ext cx="4584700" cy="5486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826500" y="8102600"/>
            <a:ext cx="7010400" cy="377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  </a:t>
            </a:r>
          </a:p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P2P 통신방식으로 </a:t>
            </a:r>
          </a:p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영상데이터 전송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8600" y="1028700"/>
            <a:ext cx="11239500" cy="24638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시스템 아키텍처 </a:t>
            </a:r>
          </a:p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 - 프로그램 운영환경 -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28800" y="4673600"/>
            <a:ext cx="6832600" cy="4152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928100" y="4000500"/>
            <a:ext cx="5486400" cy="5486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781800" y="10109200"/>
            <a:ext cx="11087100" cy="251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AWS 서버 / HTML/MYSQL </a:t>
            </a:r>
          </a:p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/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87800" y="5245100"/>
            <a:ext cx="5486400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1300" y="1028700"/>
            <a:ext cx="11290300" cy="13335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메뉴 구성도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48700" y="3924300"/>
            <a:ext cx="5486400" cy="1460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347200" y="4025900"/>
            <a:ext cx="43561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통합 시스템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92400" y="6769100"/>
            <a:ext cx="3746500" cy="1460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95800" y="6769100"/>
            <a:ext cx="3746500" cy="146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268200" y="6769100"/>
            <a:ext cx="3746500" cy="146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80300" y="6769100"/>
            <a:ext cx="3746500" cy="146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92400" y="8445500"/>
            <a:ext cx="3746500" cy="1016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92400" y="9690100"/>
            <a:ext cx="3746500" cy="1016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80300" y="8445500"/>
            <a:ext cx="3746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80300" y="9690100"/>
            <a:ext cx="3746500" cy="1016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80300" y="11049000"/>
            <a:ext cx="3746500" cy="1016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68200" y="8445500"/>
            <a:ext cx="37465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68200" y="9690100"/>
            <a:ext cx="3746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68200" y="11049000"/>
            <a:ext cx="37465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95800" y="8445500"/>
            <a:ext cx="3746500" cy="1016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95800" y="9690100"/>
            <a:ext cx="3746500" cy="1016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95800" y="11049000"/>
            <a:ext cx="3746500" cy="1016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743200" y="7112000"/>
            <a:ext cx="34163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35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메인(home)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43200" y="7112000"/>
            <a:ext cx="34163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35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메인(home)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1300" y="7112000"/>
            <a:ext cx="29210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35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실시간 통역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41300" y="7112000"/>
            <a:ext cx="23876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35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수어 학습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919700" y="7112000"/>
            <a:ext cx="22733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35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환경설정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13100" y="8623300"/>
            <a:ext cx="26416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서비스 소개 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13100" y="9855200"/>
            <a:ext cx="26416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이용 가이드 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05700" y="8623300"/>
            <a:ext cx="35560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수어 에서 텍스트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70800" y="9855200"/>
            <a:ext cx="32131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자막/음성 설정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48600" y="11226800"/>
            <a:ext cx="29972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통역 기록관리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93700" y="8661400"/>
            <a:ext cx="20828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기초 수어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20600" y="9855200"/>
            <a:ext cx="35306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AI 동작 튜토리얼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322800" y="8623300"/>
            <a:ext cx="33147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폰트 / 색상변경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98400" y="11226800"/>
            <a:ext cx="29972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나의 학습기록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043400" y="9829800"/>
            <a:ext cx="38735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웹캠 / 마이크설정 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767300" y="11226800"/>
            <a:ext cx="25400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개인 프로필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010900" y="5422900"/>
            <a:ext cx="850900" cy="584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3970000" y="7988300"/>
            <a:ext cx="342900" cy="584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3970000" y="9258300"/>
            <a:ext cx="342900" cy="584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4033500" y="10579100"/>
            <a:ext cx="342900" cy="584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8897600" y="8102600"/>
            <a:ext cx="342900" cy="584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8897600" y="9347200"/>
            <a:ext cx="342900" cy="584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8897600" y="10591800"/>
            <a:ext cx="342900" cy="5842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394200" y="8102600"/>
            <a:ext cx="342900" cy="584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394200" y="9258300"/>
            <a:ext cx="342900" cy="584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9182100" y="7924800"/>
            <a:ext cx="342900" cy="584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9220200" y="9283700"/>
            <a:ext cx="342900" cy="5842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9182100" y="10642600"/>
            <a:ext cx="342900" cy="5842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8953500" y="6248400"/>
            <a:ext cx="800100" cy="5842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4229100" y="6172200"/>
            <a:ext cx="647700" cy="5842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3817600" y="6172200"/>
            <a:ext cx="647700" cy="5842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18757900" y="6134100"/>
            <a:ext cx="571500" cy="5842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975100" y="5854700"/>
            <a:ext cx="155575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1300" y="1028700"/>
            <a:ext cx="11214100" cy="13335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ERD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949700" y="-317500"/>
            <a:ext cx="20434300" cy="15824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1300" y="1028700"/>
            <a:ext cx="11290300" cy="13335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SRS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975100" y="393700"/>
            <a:ext cx="18237200" cy="1379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97000" y="977900"/>
            <a:ext cx="11290300" cy="13335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1주차떄 받은 피드백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54600" y="6654800"/>
            <a:ext cx="145288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시스템 구성도 아주 구체적으로 그려올것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97000" y="977900"/>
            <a:ext cx="11290300" cy="24638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1주차떄 받은 피드백 받고 변경된 사항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54600" y="5600700"/>
            <a:ext cx="14528800" cy="377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원래 자막을 수어(아바타)가 나와서 할거였는데 구현 불가능으로 수어를 자막으로 하는 기능만 만들려고 변경함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1300" y="1028700"/>
            <a:ext cx="11290300" cy="13335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구체적인 시스템 구상도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15400" y="5372100"/>
            <a:ext cx="6807200" cy="297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16738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입력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1300" y="1028700"/>
            <a:ext cx="11290300" cy="13335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입력 : 카메라가 하는 역할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4000" y="5156200"/>
            <a:ext cx="9118600" cy="502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웹캠을 통해 사용자의 수어 동작을 30프레임 이상으로 끊김 없는 영상으로 전달합니다.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45800" y="3924300"/>
            <a:ext cx="13017500" cy="7505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655300" y="11214100"/>
            <a:ext cx="13068300" cy="175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82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Webcam API, WebRTC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775700" y="5473700"/>
            <a:ext cx="23469600" cy="27559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15512" b="false" i="false" u="none" strike="noStrike" spc="-4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2. 분석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1300" y="1028700"/>
            <a:ext cx="11290300" cy="13335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분석 AI가 하는 기능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10800" y="4419600"/>
            <a:ext cx="12915900" cy="6807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57300" y="4673600"/>
            <a:ext cx="9486900" cy="628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관절 좌표 추적
손가락 마디마디의 21개 포인트를 실시간으로 따라가며 동작의 '모양'을</a:t>
            </a:r>
          </a:p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데이터로 바꿉니다.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13900" y="11112500"/>
            <a:ext cx="140970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197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MediaPipe, OpenCV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1300" y="1028700"/>
            <a:ext cx="11290300" cy="13335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분석 AI가 하는 기능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69600" y="4076700"/>
            <a:ext cx="12090400" cy="7505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24000" y="4838700"/>
            <a:ext cx="8166100" cy="628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의미 추론 엔진
움직임의 패턴을 분석해 수어 사전 데이터에서 '단어'와 '문장'을 찾아냅니다.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20300" y="11658600"/>
            <a:ext cx="13830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30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TensorFlow, LSTM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11900" y="6159500"/>
            <a:ext cx="11760200" cy="1409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791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TensorFlow, LSTM Model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75700" y="5473700"/>
            <a:ext cx="23469600" cy="27559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15512" b="false" i="false" u="none" strike="noStrike" spc="-4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3. 출력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1300" y="1028700"/>
            <a:ext cx="11290300" cy="13335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출력 서비스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9900" y="5689600"/>
            <a:ext cx="9842500" cy="407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724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스마트 자막 오버레이</a:t>
            </a:r>
          </a:p>
          <a:p>
            <a:pPr algn="ctr" lvl="0">
              <a:lnSpc>
                <a:spcPct val="116199"/>
              </a:lnSpc>
            </a:pPr>
            <a:r>
              <a:rPr lang="en-US" sz="5724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AI가 읽어낸 내용을 화면 아래에 자막으로 띄워줍니다. 폰트와 크기를 내 맘대로 조절합니다.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192000" y="5029200"/>
            <a:ext cx="10985500" cy="5651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807700" y="11226800"/>
            <a:ext cx="137541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2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TensorFlow, LSTM Model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1300" y="1028700"/>
            <a:ext cx="11290300" cy="13335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출력 서비스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200" y="5689600"/>
            <a:ext cx="10109200" cy="407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724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자연스러운 AI 목소리
텍스트를 다시 목소리로 바꿔줍니다. 상대방은 이어폰이나 스피커로 바로 들을 수 있습니다.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12700" y="4546600"/>
            <a:ext cx="10147300" cy="5689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604500" y="10947400"/>
            <a:ext cx="13538200" cy="162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10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TensorFlow, LSTM Model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4200" y="1765300"/>
            <a:ext cx="23215600" cy="10795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5900" y="1358900"/>
            <a:ext cx="5054600" cy="172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68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구현한것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2501900"/>
            <a:ext cx="21361400" cy="11214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AEB6C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393700"/>
            <a:ext cx="23545800" cy="129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378200"/>
            <a:ext cx="21336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38300" y="660400"/>
            <a:ext cx="11290300" cy="2463800"/>
          </a:xfrm>
          <a:prstGeom prst="rect">
            <a:avLst/>
          </a:prstGeom>
        </p:spPr>
        <p:txBody>
          <a:bodyPr anchor="t" rtlCol="false" lIns="0" tIns="94827" rIns="0" bIns="0"/>
          <a:lstStyle/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주차별 </a:t>
            </a:r>
          </a:p>
          <a:p>
            <a:pPr algn="l" lvl="0">
              <a:lnSpc>
                <a:spcPct val="99600"/>
              </a:lnSpc>
            </a:pPr>
            <a:r>
              <a:rPr lang="en-US" sz="7466" b="false" i="false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계획서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6200" y="660400"/>
            <a:ext cx="3263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05" b="false" i="false" u="none" strike="noStrike" spc="100">
                <a:solidFill>
                  <a:srgbClr val="B2BECF"/>
                </a:solidFill>
                <a:latin typeface="Gong Gothic Medium"/>
                <a:ea typeface="Gong Gothic Medium"/>
                <a:cs typeface="Gong Gothic Medium"/>
              </a:rPr>
              <a:t>MIRI 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89500" y="-190500"/>
            <a:ext cx="19913600" cy="140843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1300" y="5930900"/>
            <a:ext cx="65151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10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